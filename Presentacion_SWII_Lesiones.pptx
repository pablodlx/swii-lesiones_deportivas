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[Pablo · 0:00 → 0:30]</a:t>
            </a:r>
          </a:p>
          <a:p>
            <a:r>
              <a:t>- Saluda, presenta título y al grupo (los 6 nombres en pantalla).</a:t>
            </a:r>
          </a:p>
          <a:p>
            <a:r>
              <a:t>- Una frase clave: "Una API REST que cruza entrenamientos deportivos con datos meteorológicos</a:t>
            </a:r>
          </a:p>
          <a:p>
            <a:r>
              <a:t>  para estimar riesgo de lesión".</a:t>
            </a:r>
          </a:p>
          <a:p>
            <a:r>
              <a:t>- Anuncia que la defensa dura 10 min repartidos entre los 6.</a:t>
            </a:r>
          </a:p>
          <a:p>
            <a:r>
              <a:t>- Pasa palabra a Enrique tras decir el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[Pablo · 0:30 → 1:30]</a:t>
            </a:r>
          </a:p>
          <a:p>
            <a:r>
              <a:t>- Encuadra el problema en 2 frases: load por sí solo es insuficiente, el clima importa.</a:t>
            </a:r>
          </a:p>
          <a:p>
            <a:r>
              <a:t>- Explica que el sistema resuelve esto con UNA API que ya cruza ambos mundos.</a:t>
            </a:r>
          </a:p>
          <a:p>
            <a:r>
              <a:t>- Menciona los 4 recursos sin entrar en detalle (los explica Enrique).</a:t>
            </a:r>
          </a:p>
          <a:p>
            <a:r>
              <a:t>- Cierra con: "Vamos a ver cómo modelamos esto". Pasa a Enrique.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[Enrique · 1:30 → 2:15]</a:t>
            </a:r>
          </a:p>
          <a:p>
            <a:r>
              <a:t>- Recorre las 4 cajas en orden: Athlete → TrainingSession → Injury / WeatherSnapshot.</a:t>
            </a:r>
          </a:p>
          <a:p>
            <a:r>
              <a:t>- Destaca que Injury puede o NO estar asociada a una sesión (0..1).</a:t>
            </a:r>
          </a:p>
          <a:p>
            <a:r>
              <a:t>- Subraya que TrainingSession referencia un WeatherSnapshot cacheado en Mongo</a:t>
            </a:r>
          </a:p>
          <a:p>
            <a:r>
              <a:t>  (clave para el bloque 5 de Victor).</a:t>
            </a:r>
          </a:p>
          <a:p>
            <a:r>
              <a:t>- Pasa palabra anunciando "la colección masiva".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[Enrique · 2:15 → 3:00]</a:t>
            </a:r>
          </a:p>
          <a:p>
            <a:r>
              <a:t>- "15.420 documentos" es la cifra clave: requisito superado con margen (×15).</a:t>
            </a:r>
          </a:p>
          <a:p>
            <a:r>
              <a:t>- Explica que NO son datos inventados: el CSV es un dataset real multimodal.</a:t>
            </a:r>
          </a:p>
          <a:p>
            <a:r>
              <a:t>- Recorrido del pipeline: CSV → generate → JSON → seed → Mongo.</a:t>
            </a:r>
          </a:p>
          <a:p>
            <a:r>
              <a:t>- Subraya los 4 índices porque permiten que la paginación de Santi sea rápida.</a:t>
            </a:r>
          </a:p>
          <a:p>
            <a:r>
              <a:t>- Pasa palabra: "Veamos los endpoints CRUD".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[Santi · 3:00 → 3:30]</a:t>
            </a:r>
          </a:p>
          <a:p>
            <a:r>
              <a:t>- Mostrar el stack en chips. Decir que es Express 5 (no 4), Mongoose 8.</a:t>
            </a:r>
          </a:p>
          <a:p>
            <a:r>
              <a:t>- Argumento de diseño: separación en capas finas, sin sobre-ingeniería.</a:t>
            </a:r>
          </a:p>
          <a:p>
            <a:r>
              <a:t>  app.js orquesta, services se encarga de las APIs externas, models guarda esquemas.</a:t>
            </a:r>
          </a:p>
          <a:p>
            <a:r>
              <a:t>- Pasar al CRUD plano.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[Santi · 3:30 → 4:00]</a:t>
            </a:r>
          </a:p>
          <a:p>
            <a:r>
              <a:t>- "Tres recursos, mismo contrato": CRUD homogéneo.</a:t>
            </a:r>
          </a:p>
          <a:p>
            <a:r>
              <a:t>- Resaltar que POST /sessions NO es un crear plano: enriquece con clima y riesgo</a:t>
            </a:r>
          </a:p>
          <a:p>
            <a:r>
              <a:t>  (lo cuenta Victor con detalle).</a:t>
            </a:r>
          </a:p>
          <a:p>
            <a:r>
              <a:t>- Apuntar que todos los endpoints devuelven errores normalizados {code,message}.</a:t>
            </a:r>
          </a:p>
          <a:p>
            <a:r>
              <a:t>- Pasar al siguiente slide: paginación.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[Santi · 4:00 → 4:30]</a:t>
            </a:r>
          </a:p>
          <a:p>
            <a:r>
              <a:t>- Recorre el request: page+limit+filtros combinables.</a:t>
            </a:r>
          </a:p>
          <a:p>
            <a:r>
              <a:t>- Response incluye total + totalPages → fácil para paginar en cliente.</a:t>
            </a:r>
          </a:p>
          <a:p>
            <a:r>
              <a:t>- Mencionar que esos filtros también funcionan en las rutas anidadas que vienen ahora.</a:t>
            </a:r>
          </a:p>
          <a:p>
            <a:r>
              <a:t>- Pasa palabra a Alberto.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[Alberto · 4:30 → 5:00]</a:t>
            </a:r>
          </a:p>
          <a:p>
            <a:r>
              <a:t>- "Mi aportación principal: rutas anidadas para que la relación atleta→sesión y</a:t>
            </a:r>
          </a:p>
          <a:p>
            <a:r>
              <a:t>  atleta→lesión se vea en la URL".</a:t>
            </a:r>
          </a:p>
          <a:p>
            <a:r>
              <a:t>- Antes/Ahora en pantalla — leer un ejemplo de cada lado.</a:t>
            </a:r>
          </a:p>
          <a:p>
            <a:r>
              <a:t>- Beneficio concreto: cuando POSTeas a /athletes/{id}/sessions, no puedes</a:t>
            </a:r>
          </a:p>
          <a:p>
            <a:r>
              <a:t>  olvidarte del athleteId, viene de la URL. El backend valida que el atleta exista</a:t>
            </a:r>
          </a:p>
          <a:p>
            <a:r>
              <a:t>  antes de crear nada.</a:t>
            </a:r>
          </a:p>
          <a:p>
            <a:r>
              <a:t>- Pasar a OpenAPI.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[Alberto · 5:00 → 5:30]</a:t>
            </a:r>
          </a:p>
          <a:p>
            <a:r>
              <a:t>- "Documenté toda la API en OpenAPI 3.0.3, un contrato ejecutable".</a:t>
            </a:r>
          </a:p>
          <a:p>
            <a:r>
              <a:t>- Señalar el $ref: evita repetir parámetros y mantiene la doc DRY.</a:t>
            </a:r>
          </a:p>
          <a:p>
            <a:r>
              <a:t>- Mencionar que cubre rutas planas + anidadas + XML.</a:t>
            </a:r>
          </a:p>
          <a:p>
            <a:r>
              <a:t>- Beneficio concreto: si abres el YAML en Swagger UI o Postman, tienes una</a:t>
            </a:r>
          </a:p>
          <a:p>
            <a:r>
              <a:t>  consola de la API sin tocar código.</a:t>
            </a:r>
          </a:p>
          <a:p>
            <a:r>
              <a:t>- Pasar a XSDs.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[Alberto · 5:30 → 6:00]</a:t>
            </a:r>
          </a:p>
          <a:p>
            <a:r>
              <a:t>- "Para soportar XML decentemente, dos XSDs": Athlete e Injury.</a:t>
            </a:r>
          </a:p>
          <a:p>
            <a:r>
              <a:t>- Destacar el enum sex y severity (tipos restringidos, validación gratuita).</a:t>
            </a:r>
          </a:p>
          <a:p>
            <a:r>
              <a:t>- ObjectIdHex es un tipo derivado: regex de 24 hex (los _id de Mongo).</a:t>
            </a:r>
          </a:p>
          <a:p>
            <a:r>
              <a:t>- minOccurs="0" en sessionId → la lesión puede no asociarse a una sesión.</a:t>
            </a:r>
          </a:p>
          <a:p>
            <a:r>
              <a:t>- Cómo lo usa el cliente: Content-Type/Accept: application/xml y el server devuelve XML.</a:t>
            </a:r>
          </a:p>
          <a:p>
            <a:r>
              <a:t>- Pasar a Victor para integración externa.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[Victor · 6:00 → 6:30]</a:t>
            </a:r>
          </a:p>
          <a:p>
            <a:r>
              <a:t>- "Para cada sesión, llamamos a Open-Meteo con lat, lon y fecha".</a:t>
            </a:r>
          </a:p>
          <a:p>
            <a:r>
              <a:t>- Mencionar el timeout de 10s para que la API no nos bloquee.</a:t>
            </a:r>
          </a:p>
          <a:p>
            <a:r>
              <a:t>- Se guarda el snapshot tal cual + campos extraídos → permite el cache (slide 14).</a:t>
            </a:r>
          </a:p>
          <a:p>
            <a:r>
              <a:t>- Pasar a la parte XML.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[Victor · 6:30 → 7:00]</a:t>
            </a:r>
          </a:p>
          <a:p>
            <a:r>
              <a:t>- "Meteoalarm publica CAP en XML; lo parseamos con xml2js".</a:t>
            </a:r>
          </a:p>
          <a:p>
            <a:r>
              <a:t>- Filtramos por countryCode y reducimos a un alertLevel discreto.</a:t>
            </a:r>
          </a:p>
          <a:p>
            <a:r>
              <a:t>- 5 niveles: none / low / moderate / high / extreme — alineados con los códigos</a:t>
            </a:r>
          </a:p>
          <a:p>
            <a:r>
              <a:t>  de color europeos (verde→rojo).</a:t>
            </a:r>
          </a:p>
          <a:p>
            <a:r>
              <a:t>- Pasar al cálculo de riesgo.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[Victor · 7:00 → 7:30]</a:t>
            </a:r>
          </a:p>
          <a:p>
            <a:r>
              <a:t>- "El riesgo se calcula en una función pura": auditable, testeable, sin estado.</a:t>
            </a:r>
          </a:p>
          <a:p>
            <a:r>
              <a:t>- 9 líneas: ponderamos la carga y subimos por alerta moderada/alta.</a:t>
            </a:r>
          </a:p>
          <a:p>
            <a:r>
              <a:t>- Decisión consciente: no usar ML aquí. Modelo simple &gt; caja negra.</a:t>
            </a:r>
          </a:p>
          <a:p>
            <a:r>
              <a:t>- Pasar a resiliencia.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[Victor · 7:30 → 8:00]</a:t>
            </a:r>
          </a:p>
          <a:p>
            <a:r>
              <a:t>- "Esto es lo que valida el profe: que la API NO se bloquee si una externa cae".</a:t>
            </a:r>
          </a:p>
          <a:p>
            <a:r>
              <a:t>- 3 estados explícitos: ok / cached / unavailable. Cada sesión guarda su status.</a:t>
            </a:r>
          </a:p>
          <a:p>
            <a:r>
              <a:t>- El servicio degrada graciosamente: prefiere datos viejos a no contestar.</a:t>
            </a:r>
          </a:p>
          <a:p>
            <a:r>
              <a:t>- Pasar palabra a Miguel para JSON↔XML.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[Miguel · 8:00 → 8:30]</a:t>
            </a:r>
          </a:p>
          <a:p>
            <a:r>
              <a:t>- "Un solo helper respond() decide JSON o XML según el header Accept del cliente".</a:t>
            </a:r>
          </a:p>
          <a:p>
            <a:r>
              <a:t>- Mostrar los curl: mismo endpoint, distinto formato.</a:t>
            </a:r>
          </a:p>
          <a:p>
            <a:r>
              <a:t>- Recordar que los XSD (slide 10) son los que validan ese XML.</a:t>
            </a:r>
          </a:p>
          <a:p>
            <a:r>
              <a:t>- Pasar a códigos HTTP.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[Miguel · 8:30 → 9:00]</a:t>
            </a:r>
          </a:p>
          <a:p>
            <a:r>
              <a:t>- "Cada respuesta lleva el código HTTP semántico correcto, no todo 200 OK".</a:t>
            </a:r>
          </a:p>
          <a:p>
            <a:r>
              <a:t>- 503 es importante: si las externas caen Y no hay cache → el cliente sabe que es</a:t>
            </a:r>
          </a:p>
          <a:p>
            <a:r>
              <a:t>  problema de upstream, no nuestro.</a:t>
            </a:r>
          </a:p>
          <a:p>
            <a:r>
              <a:t>- Pasar al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[Miguel · 9:00 → 9:20]</a:t>
            </a:r>
          </a:p>
          <a:p>
            <a:r>
              <a:t>- 4 lecciones concretas, una frase cada una.</a:t>
            </a:r>
          </a:p>
          <a:p>
            <a:r>
              <a:t>- Aterriza por qué cada decisión técnica nos costó pero salió bien.</a:t>
            </a:r>
          </a:p>
          <a:p>
            <a:r>
              <a:t>- Pasar a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[Coral · 9:20 → 9:30]</a:t>
            </a:r>
          </a:p>
          <a:p>
            <a:r>
              <a:t>- Cierra Pablo (o quien abrió): agradecimiento, enseña el repo en pantalla.</a:t>
            </a:r>
          </a:p>
          <a:p>
            <a:r>
              <a:t>- Margen final: 30 segundos para evitar pasarse de los 10 min.</a:t>
            </a:r>
          </a:p>
          <a:p>
            <a:r>
              <a:t>- Estar preparados para preguntas:</a:t>
            </a:r>
          </a:p>
          <a:p>
            <a:r>
              <a:t>   · ¿Por qué Mongo y no SQL?  (datos heterogéneos + rawPayload JSON)</a:t>
            </a:r>
          </a:p>
          <a:p>
            <a:r>
              <a:t>   · ¿Cómo escalaría?  (paginación + índices + cache cubre x10)</a:t>
            </a:r>
          </a:p>
          <a:p>
            <a:r>
              <a:t>   · ¿Por qué Open-Meteo y Meteoalarm?  (gratis, sin key, fiables)</a:t>
            </a:r>
          </a:p>
          <a:p>
            <a:r>
              <a:t>   · ¿Tests?  (manual con curl; futura mejora: jest + supertest)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B949E"/>
                </a:solidFill>
                <a:latin typeface="Segoe UI"/>
              </a:rPr>
              <a:t>SISTEMAS WEB II · DEFENSA DE PRÁCTICA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C9D1D9"/>
                </a:solidFill>
                <a:latin typeface="Segoe UI"/>
              </a:rPr>
              <a:t>API REST de Riesgo</a:t>
            </a:r>
          </a:p>
          <a:p>
            <a:pPr algn="l"/>
            <a:r>
              <a:rPr sz="4400" b="1">
                <a:solidFill>
                  <a:srgbClr val="C9D1D9"/>
                </a:solidFill>
                <a:latin typeface="Segoe UI"/>
              </a:rPr>
              <a:t>de Lesiones Deportivas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8A6FF"/>
                </a:solidFill>
                <a:latin typeface="Segoe UI"/>
              </a:rPr>
              <a:t>Node.js · Express 5 · MongoDB · JSON + XML · APIs externas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10698480" cy="12801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0292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9D1D9"/>
                </a:solidFill>
                <a:latin typeface="Segoe UI"/>
              </a:rPr>
              <a:t>● Pablo de la Cruz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50292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9D1D9"/>
                </a:solidFill>
                <a:latin typeface="Segoe UI"/>
              </a:rPr>
              <a:t>● Enrique Muñoz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50292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9D1D9"/>
                </a:solidFill>
                <a:latin typeface="Segoe UI"/>
              </a:rPr>
              <a:t>● Santiago Battat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4406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9D1D9"/>
                </a:solidFill>
                <a:latin typeface="Segoe UI"/>
              </a:rPr>
              <a:t>● Alberto Fernández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54406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9D1D9"/>
                </a:solidFill>
                <a:latin typeface="Segoe UI"/>
              </a:rPr>
              <a:t>● Victor Martínez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54406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9D1D9"/>
                </a:solidFill>
                <a:latin typeface="Segoe UI"/>
              </a:rPr>
              <a:t>● Miguel Barrera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CEU EPS · Curso 2025-2026 · 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9D1D9"/>
                </a:solidFill>
                <a:latin typeface="Segoe UI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Segoe UI"/>
              </a:rPr>
              <a:t>¿Por qué cruzamos entrenamientos con clima?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532120" cy="4389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7B72"/>
                </a:solidFill>
                <a:latin typeface="Segoe UI"/>
              </a:rPr>
              <a:t>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512064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C9D1D9"/>
                </a:solidFill>
                <a:latin typeface="Segoe UI"/>
              </a:rPr>
              <a:t>Las lesiones deportivas no dependen solo</a:t>
            </a:r>
          </a:p>
          <a:p>
            <a:pPr algn="l"/>
            <a:r>
              <a:rPr sz="1500" b="0">
                <a:solidFill>
                  <a:srgbClr val="C9D1D9"/>
                </a:solidFill>
                <a:latin typeface="Segoe UI"/>
              </a:rPr>
              <a:t>de la carga de entrenamiento (load).</a:t>
            </a:r>
          </a:p>
          <a:p>
            <a:pPr algn="l"/>
            <a:r>
              <a:rPr sz="1500" b="0">
                <a:solidFill>
                  <a:srgbClr val="C9D1D9"/>
                </a:solidFill>
                <a:latin typeface="Segoe UI"/>
              </a:rPr>
              <a:t/>
            </a:r>
          </a:p>
          <a:p>
            <a:pPr algn="l"/>
            <a:r>
              <a:rPr sz="1500" b="0">
                <a:solidFill>
                  <a:srgbClr val="C9D1D9"/>
                </a:solidFill>
                <a:latin typeface="Segoe UI"/>
              </a:rPr>
              <a:t>Variables ambientales —temperatura, humedad,</a:t>
            </a:r>
          </a:p>
          <a:p>
            <a:pPr algn="l"/>
            <a:r>
              <a:rPr sz="1500" b="0">
                <a:solidFill>
                  <a:srgbClr val="C9D1D9"/>
                </a:solidFill>
                <a:latin typeface="Segoe UI"/>
              </a:rPr>
              <a:t>viento, alertas meteorológicas— modulan el</a:t>
            </a:r>
          </a:p>
          <a:p>
            <a:pPr algn="l"/>
            <a:r>
              <a:rPr sz="1500" b="0">
                <a:solidFill>
                  <a:srgbClr val="C9D1D9"/>
                </a:solidFill>
                <a:latin typeface="Segoe UI"/>
              </a:rPr>
              <a:t>riesgo y rara vez se almacenan junto al historial.</a:t>
            </a:r>
          </a:p>
          <a:p>
            <a:pPr algn="l"/>
            <a:r>
              <a:rPr sz="1500" b="0">
                <a:solidFill>
                  <a:srgbClr val="C9D1D9"/>
                </a:solidFill>
                <a:latin typeface="Segoe UI"/>
              </a:rPr>
              <a:t/>
            </a:r>
          </a:p>
          <a:p>
            <a:pPr algn="l"/>
            <a:r>
              <a:rPr sz="1500" b="0">
                <a:solidFill>
                  <a:srgbClr val="C9D1D9"/>
                </a:solidFill>
                <a:latin typeface="Segoe UI"/>
              </a:rPr>
              <a:t>No hay un endpoint único que cruce ambos datos</a:t>
            </a:r>
          </a:p>
          <a:p>
            <a:pPr algn="l"/>
            <a:r>
              <a:rPr sz="1500" b="0">
                <a:solidFill>
                  <a:srgbClr val="C9D1D9"/>
                </a:solidFill>
                <a:latin typeface="Segoe UI"/>
              </a:rPr>
              <a:t>y los exponga de forma estructurada.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532120" cy="4389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Segoe UI"/>
              </a:rPr>
              <a:t>NUESTRA SOLUCIÓN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512064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C9D1D9"/>
                </a:solidFill>
                <a:latin typeface="Segoe UI"/>
              </a:rPr>
              <a:t>API REST con 4 recursos:</a:t>
            </a:r>
          </a:p>
          <a:p>
            <a:pPr algn="l"/>
            <a:r>
              <a:rPr sz="1500" b="0">
                <a:solidFill>
                  <a:srgbClr val="C9D1D9"/>
                </a:solidFill>
                <a:latin typeface="Segoe UI"/>
              </a:rPr>
              <a:t>  athletes · sessions · injuries · weather snapshots</a:t>
            </a:r>
          </a:p>
          <a:p>
            <a:pPr algn="l"/>
            <a:r>
              <a:rPr sz="1500" b="0">
                <a:solidFill>
                  <a:srgbClr val="C9D1D9"/>
                </a:solidFill>
                <a:latin typeface="Segoe UI"/>
              </a:rPr>
              <a:t/>
            </a:r>
          </a:p>
          <a:p>
            <a:pPr algn="l"/>
            <a:r>
              <a:rPr sz="1500" b="0">
                <a:solidFill>
                  <a:srgbClr val="C9D1D9"/>
                </a:solidFill>
                <a:latin typeface="Segoe UI"/>
              </a:rPr>
              <a:t>Cada sesión se enriquece automáticamente con:</a:t>
            </a:r>
          </a:p>
          <a:p>
            <a:pPr algn="l"/>
            <a:r>
              <a:rPr sz="1500" b="0">
                <a:solidFill>
                  <a:srgbClr val="C9D1D9"/>
                </a:solidFill>
                <a:latin typeface="Segoe UI"/>
              </a:rPr>
              <a:t>  · Open-Meteo (JSON) → meteo en lat/lon/fecha</a:t>
            </a:r>
          </a:p>
          <a:p>
            <a:pPr algn="l"/>
            <a:r>
              <a:rPr sz="1500" b="0">
                <a:solidFill>
                  <a:srgbClr val="C9D1D9"/>
                </a:solidFill>
                <a:latin typeface="Segoe UI"/>
              </a:rPr>
              <a:t>  · Meteoalarm CAP (XML) → alertas por país</a:t>
            </a:r>
          </a:p>
          <a:p>
            <a:pPr algn="l"/>
            <a:r>
              <a:rPr sz="1500" b="0">
                <a:solidFill>
                  <a:srgbClr val="C9D1D9"/>
                </a:solidFill>
                <a:latin typeface="Segoe UI"/>
              </a:rPr>
              <a:t/>
            </a:r>
          </a:p>
          <a:p>
            <a:pPr algn="l"/>
            <a:r>
              <a:rPr sz="1500" b="0">
                <a:solidFill>
                  <a:srgbClr val="C9D1D9"/>
                </a:solidFill>
                <a:latin typeface="Segoe UI"/>
              </a:rPr>
              <a:t>Cálculo derivado: riskLevel = low | medium | high</a:t>
            </a:r>
          </a:p>
          <a:p>
            <a:pPr algn="l"/>
            <a:r>
              <a:rPr sz="1500" b="0">
                <a:solidFill>
                  <a:srgbClr val="C9D1D9"/>
                </a:solidFill>
                <a:latin typeface="Segoe UI"/>
              </a:rPr>
              <a:t>Resiliente: cache si la API externa cae.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SWII · Lesiones Deportivas · Pablo de la Cruz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9D1D9"/>
                </a:solidFill>
                <a:latin typeface="Segoe UI"/>
              </a:rPr>
              <a:t>Modelo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Segoe UI"/>
              </a:rPr>
              <a:t>4 colecciones MongoDB con relaciones explícitas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926080" cy="2194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47088"/>
            <a:ext cx="2651760" cy="320040"/>
          </a:xfrm>
          <a:prstGeom prst="rect">
            <a:avLst/>
          </a:prstGeom>
          <a:solidFill>
            <a:srgbClr val="0D1117"/>
          </a:solidFill>
          <a:ln w="952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6537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Consolas"/>
              </a:rPr>
              <a:t>Athlete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2468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_id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fullName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birthDate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sex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primarySport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heightCm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weightKg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737360"/>
            <a:ext cx="3474720" cy="2194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847088"/>
            <a:ext cx="3200400" cy="320040"/>
          </a:xfrm>
          <a:prstGeom prst="rect">
            <a:avLst/>
          </a:prstGeom>
          <a:solidFill>
            <a:srgbClr val="0D1117"/>
          </a:solidFill>
          <a:ln w="952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86537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  <a:latin typeface="Consolas"/>
              </a:rPr>
              <a:t>TrainingSession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28600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_id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athleteId →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sessionDate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sport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load (0-100)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location.{lat,lon,country}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weatherSnapshotId →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weatherAlertLevel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riskLevel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externalDataStatus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73736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1847088"/>
            <a:ext cx="3108960" cy="320040"/>
          </a:xfrm>
          <a:prstGeom prst="rect">
            <a:avLst/>
          </a:prstGeom>
          <a:solidFill>
            <a:srgbClr val="0D1117"/>
          </a:solidFill>
          <a:ln w="9525">
            <a:solidFill>
              <a:srgbClr val="D2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6537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29A2E"/>
                </a:solidFill>
                <a:latin typeface="Consolas"/>
              </a:rPr>
              <a:t>WeatherSnapshot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28600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_id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source: openmeteo|meteoalarm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snapshotDate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location.{lat,lon,countryCode}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temperatureC, humidity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alertLevel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rawPayload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429768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4407408"/>
            <a:ext cx="3200400" cy="320040"/>
          </a:xfrm>
          <a:prstGeom prst="rect">
            <a:avLst/>
          </a:prstGeom>
          <a:solidFill>
            <a:srgbClr val="0D1117"/>
          </a:solidFill>
          <a:ln w="9525">
            <a:solidFill>
              <a:srgbClr val="FF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442569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7B72"/>
                </a:solidFill>
                <a:latin typeface="Consolas"/>
              </a:rPr>
              <a:t>Injury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84632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_id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athleteId →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sessionId → (opc.)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injuryDate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injuryType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bodyPart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severity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daysOut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474720" y="2834640"/>
            <a:ext cx="640080" cy="0"/>
          </a:xfrm>
          <a:prstGeom prst="line">
            <a:avLst/>
          </a:prstGeom>
          <a:ln w="1587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429000" y="26974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  <a:latin typeface="Consolas"/>
              </a:rPr>
              <a:t>1—N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11680" y="3931920"/>
            <a:ext cx="2926080" cy="365760"/>
          </a:xfrm>
          <a:prstGeom prst="line">
            <a:avLst/>
          </a:prstGeom>
          <a:ln w="1587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108960" y="39776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  <a:latin typeface="Consolas"/>
              </a:rPr>
              <a:t>1—N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852160" y="3931920"/>
            <a:ext cx="0" cy="365760"/>
          </a:xfrm>
          <a:prstGeom prst="line">
            <a:avLst/>
          </a:prstGeom>
          <a:ln w="1587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0" y="39776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  <a:latin typeface="Consolas"/>
              </a:rPr>
              <a:t>0..1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89520" y="2834640"/>
            <a:ext cx="640080" cy="0"/>
          </a:xfrm>
          <a:prstGeom prst="line">
            <a:avLst/>
          </a:prstGeom>
          <a:ln w="1587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543800" y="26974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  <a:latin typeface="Consolas"/>
              </a:rPr>
              <a:t>1—1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SWII · Lesiones Deportivas · Enrique Muñoz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9D1D9"/>
                </a:solidFill>
                <a:latin typeface="Segoe UI"/>
              </a:rPr>
              <a:t>Colección masiva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Segoe UI"/>
              </a:rPr>
              <a:t>Requisito SWII: ≥1.000 documentos en una colección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029200" cy="40233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Consolas"/>
              </a:rPr>
              <a:t>training_sessions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3FB950"/>
                </a:solidFill>
                <a:latin typeface="Segoe UI"/>
              </a:rPr>
              <a:t>15.420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9D1D9"/>
                </a:solidFill>
                <a:latin typeface="Segoe UI"/>
              </a:rPr>
              <a:t>documentos cargados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Segoe UI"/>
              </a:rPr>
              <a:t>× 15 el mínimo exigido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73736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19202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Segoe UI"/>
              </a:rPr>
              <a:t>Pipeline de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331720"/>
            <a:ext cx="557784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1.  archive/multimodal_sports_injury_dataset.csv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                      ↓  npm run generate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2.  data/athletes.json          (156 atletas)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data/training_sessions.json (15.420 docs)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data/injuries.json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                      ↓  npm run seed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3.  MongoDB · colecciones reseteadas e insertadas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Índices sobre training_sessions: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· athleteId + sessionDate (-1)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· riskLevel ·  weatherAlertLevel ·  sessionDate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SWII · Lesiones Deportivas · Enrique Muñoz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9D1D9"/>
                </a:solidFill>
                <a:latin typeface="Segoe UI"/>
              </a:rPr>
              <a:t>Stack y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Segoe UI"/>
              </a:rPr>
              <a:t>Capas finas, sin frameworks pesados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Node.js 18+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737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Express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73736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D2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Mongoose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1737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MongoDB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737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axios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1737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7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xml2js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0" y="1737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8B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dotenv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68880"/>
            <a:ext cx="11064240" cy="3657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Segoe UI"/>
              </a:rPr>
              <a:t>Capas (src/)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108960"/>
            <a:ext cx="10607040" cy="594360"/>
          </a:xfrm>
          <a:prstGeom prst="roundRect">
            <a:avLst>
              <a:gd name="adj" fmla="val 30000"/>
            </a:avLst>
          </a:prstGeom>
          <a:solidFill>
            <a:srgbClr val="0D1117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8211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Consolas"/>
              </a:rPr>
              <a:t>app.js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2900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Express + rutas REST + negociación JSON/XML + manejo de errores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40480"/>
            <a:ext cx="10607040" cy="594360"/>
          </a:xfrm>
          <a:prstGeom prst="roundRect">
            <a:avLst>
              <a:gd name="adj" fmla="val 30000"/>
            </a:avLst>
          </a:prstGeom>
          <a:solidFill>
            <a:srgbClr val="0D1117"/>
          </a:solidFill>
          <a:ln w="15875">
            <a:solidFill>
              <a:srgbClr val="D2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1363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29A2E"/>
                </a:solidFill>
                <a:latin typeface="Consolas"/>
              </a:rPr>
              <a:t>services/externalService.js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fetchWeatherJson · fetchAlertsXml · computeRisk · cache fallback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572000"/>
            <a:ext cx="10607040" cy="594360"/>
          </a:xfrm>
          <a:prstGeom prst="roundRect">
            <a:avLst>
              <a:gd name="adj" fmla="val 30000"/>
            </a:avLst>
          </a:prstGeom>
          <a:solidFill>
            <a:srgbClr val="0D1117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4515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  <a:latin typeface="Consolas"/>
              </a:rPr>
              <a:t>models/*.js  (Mongoose schemas)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9204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Athlete · TrainingSession · Injury · WeatherSnapshot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303520"/>
            <a:ext cx="10607040" cy="594360"/>
          </a:xfrm>
          <a:prstGeom prst="roundRect">
            <a:avLst>
              <a:gd name="adj" fmla="val 30000"/>
            </a:avLst>
          </a:prstGeom>
          <a:solidFill>
            <a:srgbClr val="0D1117"/>
          </a:solidFill>
          <a:ln w="15875">
            <a:solidFill>
              <a:srgbClr val="8B9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7667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B949E"/>
                </a:solidFill>
                <a:latin typeface="Consolas"/>
              </a:rPr>
              <a:t>utils/xml.js  ·  config.js  ·  db.js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2356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parseXmlBody / asXml · variables de entorno · conexión Mongoose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SWII · Lesiones Deportivas · Santiago Battat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9D1D9"/>
                </a:solidFill>
                <a:latin typeface="Segoe UI"/>
              </a:rPr>
              <a:t>CRUD plano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Segoe UI"/>
              </a:rPr>
              <a:t>Mismos verbos, mismas convenciones en los 3 recursos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82880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Segoe UI"/>
              </a:rPr>
              <a:t>Verbo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828800"/>
            <a:ext cx="301752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9019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Consolas"/>
              </a:rPr>
              <a:t>/athletes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828800"/>
            <a:ext cx="329184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190195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Consolas"/>
              </a:rPr>
              <a:t>/sessions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828800"/>
            <a:ext cx="320040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190195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Consolas"/>
              </a:rPr>
              <a:t>/injuries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86000"/>
            <a:ext cx="182880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9572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Consolas"/>
              </a:rPr>
              <a:t>POST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286000"/>
            <a:ext cx="301752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239572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crear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2286000"/>
            <a:ext cx="329184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2120" y="239572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crear + enriquecer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2286000"/>
            <a:ext cx="320040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3957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crear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788920"/>
            <a:ext cx="182880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89864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Consolas"/>
              </a:rPr>
              <a:t>GET (lista)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788920"/>
            <a:ext cx="301752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289864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listar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2788920"/>
            <a:ext cx="329184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2120" y="28986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listar paginado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2788920"/>
            <a:ext cx="320040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289864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listar (filtrable)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291840"/>
            <a:ext cx="182880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4015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Consolas"/>
              </a:rPr>
              <a:t>GET (id)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3291840"/>
            <a:ext cx="301752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34015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obtener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3291840"/>
            <a:ext cx="329184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0" y="34015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obtener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3291840"/>
            <a:ext cx="320040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34015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obtener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794760"/>
            <a:ext cx="182880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90448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Consolas"/>
              </a:rPr>
              <a:t>PUT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77440" y="3794760"/>
            <a:ext cx="301752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4600" y="390448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actualizar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60" y="3794760"/>
            <a:ext cx="329184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32120" y="390448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actualizar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0" y="3794760"/>
            <a:ext cx="320040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23960" y="390448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actualizar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297680"/>
            <a:ext cx="182880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440740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Consolas"/>
              </a:rPr>
              <a:t>DELETE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77440" y="4297680"/>
            <a:ext cx="301752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14600" y="44074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borrar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94960" y="4297680"/>
            <a:ext cx="329184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2120" y="44074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borrar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0" y="4297680"/>
            <a:ext cx="320040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23960" y="440740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borrar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Consolas"/>
              </a:rPr>
              <a:t>Base URL: /api/v1   ·   Códigos HTTP: 200 / 201 / 204 / 400 / 404 / 415 / 500 / 503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Consolas"/>
              </a:rPr>
              <a:t>Errores normalizados: { code, message } en JSON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SWII · Lesiones Deportivas · Santiago Battat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9D1D9"/>
                </a:solidFill>
                <a:latin typeface="Segoe UI"/>
              </a:rPr>
              <a:t>Paginación y filtros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Segoe UI"/>
              </a:rPr>
              <a:t>Necesario con 15.420 sesiones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6949440" cy="2103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onsolas"/>
              </a:rPr>
              <a:t>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6583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9D1D9"/>
                </a:solidFill>
                <a:latin typeface="Consolas"/>
              </a:rPr>
              <a:t>GET /api/v1/sessions</a:t>
            </a:r>
          </a:p>
          <a:p>
            <a:pPr algn="l"/>
            <a:r>
              <a:rPr sz="1400" b="0">
                <a:solidFill>
                  <a:srgbClr val="C9D1D9"/>
                </a:solidFill>
                <a:latin typeface="Consolas"/>
              </a:rPr>
              <a:t>    ?page=2</a:t>
            </a:r>
          </a:p>
          <a:p>
            <a:pPr algn="l"/>
            <a:r>
              <a:rPr sz="1400" b="0">
                <a:solidFill>
                  <a:srgbClr val="C9D1D9"/>
                </a:solidFill>
                <a:latin typeface="Consolas"/>
              </a:rPr>
              <a:t>    &amp;limit=20</a:t>
            </a:r>
          </a:p>
          <a:p>
            <a:pPr algn="l"/>
            <a:r>
              <a:rPr sz="1400" b="0">
                <a:solidFill>
                  <a:srgbClr val="C9D1D9"/>
                </a:solidFill>
                <a:latin typeface="Consolas"/>
              </a:rPr>
              <a:t>    &amp;athleteId=66f01a2c…</a:t>
            </a:r>
          </a:p>
          <a:p>
            <a:pPr algn="l"/>
            <a:r>
              <a:rPr sz="1400" b="0">
                <a:solidFill>
                  <a:srgbClr val="C9D1D9"/>
                </a:solidFill>
                <a:latin typeface="Consolas"/>
              </a:rPr>
              <a:t>    &amp;riskLevel=high</a:t>
            </a:r>
          </a:p>
          <a:p>
            <a:pPr algn="l"/>
            <a:r>
              <a:rPr sz="1400" b="0">
                <a:solidFill>
                  <a:srgbClr val="C9D1D9"/>
                </a:solidFill>
                <a:latin typeface="Consolas"/>
              </a:rPr>
              <a:t>    &amp;from=2026-01-01&amp;to=2026-03-31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6949440" cy="2286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041648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onsolas"/>
              </a:rPr>
              <a:t>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15968"/>
            <a:ext cx="6583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9D1D9"/>
                </a:solidFill>
                <a:latin typeface="Consolas"/>
              </a:rPr>
              <a:t>{</a:t>
            </a:r>
          </a:p>
          <a:p>
            <a:pPr algn="l"/>
            <a:r>
              <a:rPr sz="1400" b="0">
                <a:solidFill>
                  <a:srgbClr val="C9D1D9"/>
                </a:solidFill>
                <a:latin typeface="Consolas"/>
              </a:rPr>
              <a:t>  "page": 2, "limit": 20,</a:t>
            </a:r>
          </a:p>
          <a:p>
            <a:pPr algn="l"/>
            <a:r>
              <a:rPr sz="1400" b="0">
                <a:solidFill>
                  <a:srgbClr val="C9D1D9"/>
                </a:solidFill>
                <a:latin typeface="Consolas"/>
              </a:rPr>
              <a:t>  "total": 743,</a:t>
            </a:r>
          </a:p>
          <a:p>
            <a:pPr algn="l"/>
            <a:r>
              <a:rPr sz="1400" b="0">
                <a:solidFill>
                  <a:srgbClr val="C9D1D9"/>
                </a:solidFill>
                <a:latin typeface="Consolas"/>
              </a:rPr>
              <a:t>  "totalPages": 38,</a:t>
            </a:r>
          </a:p>
          <a:p>
            <a:pPr algn="l"/>
            <a:r>
              <a:rPr sz="1400" b="0">
                <a:solidFill>
                  <a:srgbClr val="C9D1D9"/>
                </a:solidFill>
                <a:latin typeface="Consolas"/>
              </a:rPr>
              <a:t>  "data": [ { "_id": "…", "sport": "running",</a:t>
            </a:r>
          </a:p>
          <a:p>
            <a:pPr algn="l"/>
            <a:r>
              <a:rPr sz="1400" b="0">
                <a:solidFill>
                  <a:srgbClr val="C9D1D9"/>
                </a:solidFill>
                <a:latin typeface="Consolas"/>
              </a:rPr>
              <a:t>              "riskLevel": "high", … } ]</a:t>
            </a:r>
          </a:p>
          <a:p>
            <a:pPr algn="l"/>
            <a:r>
              <a:rPr sz="1400" b="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737360"/>
            <a:ext cx="4023360" cy="4480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920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Segoe UI"/>
              </a:rPr>
              <a:t>Filtros disponibles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331720"/>
            <a:ext cx="365760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• athleteId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• riskLevel  (low/medium/high)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• weatherAlertLevel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• from / to  (rango fechas)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/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Límites: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  page ≥ 1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  1 ≤ limit ≤ 100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/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Ordenado por sessionDate desc.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/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Apoyado por índices Mongo: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  athleteId+sessionDate, riskLevel,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  weatherAlertLevel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SWII · Lesiones Deportivas · Santiago Battat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9D1D9"/>
                </a:solidFill>
                <a:latin typeface="Segoe UI"/>
              </a:rPr>
              <a:t>Rutas anidadas para relaciones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Segoe UI"/>
              </a:rPr>
              <a:t>Hacer explícito en la URL lo que las plano oculta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7B72"/>
                </a:solidFill>
                <a:latin typeface="Segoe UI"/>
              </a:rPr>
              <a:t>ANTES (sólo plano)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49377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Consolas"/>
              </a:rPr>
              <a:t>GET /sessions?athleteId=66f0…</a:t>
            </a:r>
          </a:p>
          <a:p>
            <a:pPr algn="l"/>
            <a:r>
              <a:rPr sz="1300" b="0">
                <a:solidFill>
                  <a:srgbClr val="C9D1D9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C9D1D9"/>
                </a:solidFill>
                <a:latin typeface="Consolas"/>
              </a:rPr>
              <a:t>POST /injuries  + body:</a:t>
            </a:r>
          </a:p>
          <a:p>
            <a:pPr algn="l"/>
            <a:r>
              <a:rPr sz="1300" b="0">
                <a:solidFill>
                  <a:srgbClr val="C9D1D9"/>
                </a:solidFill>
                <a:latin typeface="Consolas"/>
              </a:rPr>
              <a:t>   { athleteId: "66f0…", … }</a:t>
            </a:r>
          </a:p>
          <a:p>
            <a:pPr algn="l"/>
            <a:r>
              <a:rPr sz="1300" b="0">
                <a:solidFill>
                  <a:srgbClr val="C9D1D9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C9D1D9"/>
                </a:solidFill>
                <a:latin typeface="Consolas"/>
              </a:rPr>
              <a:t>✗ Relación implícita en query/body</a:t>
            </a:r>
          </a:p>
          <a:p>
            <a:pPr algn="l"/>
            <a:r>
              <a:rPr sz="1300" b="0">
                <a:solidFill>
                  <a:srgbClr val="C9D1D9"/>
                </a:solidFill>
                <a:latin typeface="Consolas"/>
              </a:rPr>
              <a:t>✗ Fácil olvidar el athleteId</a:t>
            </a:r>
          </a:p>
          <a:p>
            <a:pPr algn="l"/>
            <a:r>
              <a:rPr sz="1300" b="0">
                <a:solidFill>
                  <a:srgbClr val="C9D1D9"/>
                </a:solidFill>
                <a:latin typeface="Consolas"/>
              </a:rPr>
              <a:t>✗ No expresa la jerarquía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5440680" cy="4480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Segoe UI"/>
              </a:rPr>
              <a:t>AHORA (anidado)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502920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Consolas"/>
              </a:rPr>
              <a:t>GET  /athletes/{id}/sessions</a:t>
            </a:r>
          </a:p>
          <a:p>
            <a:pPr algn="l"/>
            <a:r>
              <a:rPr sz="1300" b="0">
                <a:solidFill>
                  <a:srgbClr val="C9D1D9"/>
                </a:solidFill>
                <a:latin typeface="Consolas"/>
              </a:rPr>
              <a:t>POST /athletes/{id}/sessions</a:t>
            </a:r>
          </a:p>
          <a:p>
            <a:pPr algn="l"/>
            <a:r>
              <a:rPr sz="1300" b="0">
                <a:solidFill>
                  <a:srgbClr val="C9D1D9"/>
                </a:solidFill>
                <a:latin typeface="Consolas"/>
              </a:rPr>
              <a:t>GET  /athletes/{id}/injuries</a:t>
            </a:r>
          </a:p>
          <a:p>
            <a:pPr algn="l"/>
            <a:r>
              <a:rPr sz="1300" b="0">
                <a:solidFill>
                  <a:srgbClr val="C9D1D9"/>
                </a:solidFill>
                <a:latin typeface="Consolas"/>
              </a:rPr>
              <a:t>POST /athletes/{id}/injuries</a:t>
            </a:r>
          </a:p>
          <a:p>
            <a:pPr algn="l"/>
            <a:r>
              <a:rPr sz="1300" b="0">
                <a:solidFill>
                  <a:srgbClr val="C9D1D9"/>
                </a:solidFill>
                <a:latin typeface="Consolas"/>
              </a:rPr>
              <a:t>GET  /sessions/{id}/injuries</a:t>
            </a:r>
          </a:p>
          <a:p>
            <a:pPr algn="l"/>
            <a:r>
              <a:rPr sz="1300" b="0">
                <a:solidFill>
                  <a:srgbClr val="C9D1D9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C9D1D9"/>
                </a:solidFill>
                <a:latin typeface="Consolas"/>
              </a:rPr>
              <a:t>✓ Relación visible en la URL</a:t>
            </a:r>
          </a:p>
          <a:p>
            <a:pPr algn="l"/>
            <a:r>
              <a:rPr sz="1300" b="0">
                <a:solidFill>
                  <a:srgbClr val="C9D1D9"/>
                </a:solidFill>
                <a:latin typeface="Consolas"/>
              </a:rPr>
              <a:t>✓ athleteId fuera del body</a:t>
            </a:r>
          </a:p>
          <a:p>
            <a:pPr algn="l"/>
            <a:r>
              <a:rPr sz="1300" b="0">
                <a:solidFill>
                  <a:srgbClr val="C9D1D9"/>
                </a:solidFill>
                <a:latin typeface="Consolas"/>
              </a:rPr>
              <a:t>✓ 404 inmediato si el padre no existe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20" y="5486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Mi contribución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SWII · Lesiones Deportivas · Alberto Fernández  ← yo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9D1D9"/>
                </a:solidFill>
                <a:latin typeface="Segoe UI"/>
              </a:rPr>
              <a:t>Documentación OpenAPI 3.0.3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Segoe UI"/>
              </a:rPr>
              <a:t>documentacion/openapi.yaml · contrato ejecutable de la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7132320" cy="4480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onsolas"/>
              </a:rPr>
              <a:t>openapi.yaml  ·  fragmento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67665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/athletes/{athleteId}/sessions: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parameters: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- $ref: '#/components/parameters/AthleteId'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get: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tags: [Athletes, Sessions]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summary: Listar sesiones de un atleta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parameters: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  - $ref: '#/components/parameters/Page'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  - $ref: '#/components/parameters/Limit'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  - $ref: '#/components/parameters/RiskLevel'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responses: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  '200':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    content: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      application/json: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        schema: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          $ref: '#/components/schemas/PaginatedSessions'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  '404':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    $ref: '#/components/responses/NotFound'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737360"/>
            <a:ext cx="3840480" cy="4480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874519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Segoe UI"/>
              </a:rPr>
              <a:t>Qué cubre el 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86000"/>
            <a:ext cx="347472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• 18 endpoints (planos + anidados)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• Parámetros reutilizables ($ref)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• Schemas Athlete/Session/Injury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• Ejemplos de request/response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• Códigos de error documentados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• Soporta JSON y XML por endpoint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/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Beneficios: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  ✓ Auto-generación de clientes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  ✓ Renderizable en Swagger UI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  ✓ Contrato vivo del equipo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20" y="5486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Mi contribución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SWII · Lesiones Deportivas · Alberto Fernández  ← yo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9D1D9"/>
                </a:solidFill>
                <a:latin typeface="Segoe UI"/>
              </a:rPr>
              <a:t>Schemas XML (XSD)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Segoe UI"/>
              </a:rPr>
              <a:t>Validar lo que entra y sale en application/xml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onsolas"/>
              </a:rPr>
              <a:t>athlete.xsd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51206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&lt;xs:element name="Athlete"&gt;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&lt;xs:complexType&gt;&lt;xs:sequence&gt;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 &lt;xs:element name="fullName" type="xs:string"/&gt;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 &lt;xs:element name="birthDate" type="xs:date"/&gt;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 &lt;xs:element name="sex"&gt;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  &lt;xs:simpleType&gt;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   &lt;xs:restriction base="xs:string"&gt;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    &lt;xs:enumeration value="male"/&gt;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    &lt;xs:enumeration value="female"/&gt;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    &lt;xs:enumeration value="other"/&gt;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   &lt;/xs:restriction&gt;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  &lt;/xs:simpleType&gt;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 &lt;/xs:element&gt;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 &lt;xs:element name="primarySport" type="xs:string"/&gt;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&lt;/xs:sequence&gt;&lt;/xs:complexType&gt;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&lt;/xs:element&gt;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4708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onsolas"/>
              </a:rPr>
              <a:t>injury.xsd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21408"/>
            <a:ext cx="51206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&lt;xs:simpleType name="Severity"&gt;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&lt;xs:restriction base="xs:string"&gt;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 &lt;xs:enumeration value="mild"/&gt;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 &lt;xs:enumeration value="moderate"/&gt;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 &lt;xs:enumeration value="severe"/&gt;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&lt;/xs:restriction&gt;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&lt;/xs:simpleType&gt;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/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&lt;xs:element name="Injury"&gt;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&lt;xs:complexType&gt;&lt;xs:sequence&gt;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 &lt;xs:element name="athleteId" type="ObjectIdHex"/&gt;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 &lt;xs:element name="sessionId" type="ObjectIdHex"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             minOccurs="0"/&gt;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 &lt;xs:element name="injuryDate" type="xs:dateTime"/&gt;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 &lt;xs:element name="severity" type="Severity"/&gt;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 &lt;/xs:sequence&gt;&lt;/xs:complexType&gt;</a:t>
            </a:r>
          </a:p>
          <a:p>
            <a:pPr algn="l"/>
            <a:r>
              <a:rPr sz="1000" b="0">
                <a:solidFill>
                  <a:srgbClr val="C9D1D9"/>
                </a:solidFill>
                <a:latin typeface="Consolas"/>
              </a:rPr>
              <a:t>&lt;/xs:element&gt;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20" y="5486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Mi contribución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SWII · Lesiones Deportivas · Alberto Fernández  ← yo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9D1D9"/>
                </a:solidFill>
                <a:latin typeface="Segoe UI"/>
              </a:rPr>
              <a:t>API externa JSON · Open-Meteo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Segoe UI"/>
              </a:rPr>
              <a:t>Enriquecer cada sesión con clima histórico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7498079" cy="4480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onsolas"/>
              </a:rPr>
              <a:t>src/services/externalService.js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7132319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async function fetchWeatherJson(lat, lon, sessionDate, country) {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try {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const { data } = await axios.get(openMeteoBaseUrl, {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 timeout: 10000,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 params: {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   latitude: lat, longitude: lon,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   hourly: 'temperature_2m,relative_humidity_2m,' +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           'precipitation,wind_speed_10m',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   timezone: 'UTC',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   start_date: date, end_date: date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 }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});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const snapshot = await WeatherSnapshot.create({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 source: 'open-meteo',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 temperatureC: data?.hourly?.temperature_2m?.[0],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 humidity:     data?.hourly?.relative_humidity_2m?.[0],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 windSpeedKmh: data?.hourly?.wind_speed_10m?.[0],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 rawPayload: data, location: { lat, lon, countryCode } });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return { status: 'ok', snapshot, alertLevel: 'none' };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} catch (error) { /* fallback en slide 14 */ }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737360"/>
            <a:ext cx="3474720" cy="4480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87451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Segoe UI"/>
              </a:rPr>
              <a:t>Open-Meteo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286000"/>
            <a:ext cx="31089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Endpoint: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api.open-meteo.com/v1/forecast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/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Gratis · sin API key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/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Variables pedidas: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  • temperature_2m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  • relative_humidity_2m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  • precipitation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  • wind_speed_10m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/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Persistido como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WeatherSnapshot en Mongo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SWII · Lesiones Deportivas · Victor Martínez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9D1D9"/>
                </a:solidFill>
                <a:latin typeface="Segoe UI"/>
              </a:rPr>
              <a:t>API externa XML · Meteoalarm 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Segoe UI"/>
              </a:rPr>
              <a:t>Alertas meteorológicas europeas en formato CAP/XML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6949440" cy="4480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onsolas"/>
              </a:rPr>
              <a:t>fetchAlertsXml (xml2js)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658368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async function fetchAlertsXml(countryCode = 'ES') {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try {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const { data } = await axios.get(meteoalarmFeedUrl, {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 timeout: 10000, responseType: 'text'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});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const parsed = await parseStringPromise(data, {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 explicitArray: false, trim: true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});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const entries = parsed?.feed?.entry || [];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const matched = entries.filter(e =&gt;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 JSON.stringify(e).toUpperCase()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   .includes(countryCode.toUpperCase())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);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const alertLevel = normalizeAlertLevel(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 JSON.stringify(matched).slice(0, 5000)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);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return { status: 'ok', alertLevel, snapshot };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} catch { /* fallback */ }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737360"/>
            <a:ext cx="4023360" cy="4480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87451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Consolas"/>
              </a:rPr>
              <a:t>normalizeAlertLevel()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286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Mapeo CAP → enum interno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7889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red / extreme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285292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→ extreme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29184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D2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orange /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335584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→ 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7947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D2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yellow / moderate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385876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→ moderate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2976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green / 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436168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→ 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48006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8B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(sin match)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486460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→ none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SWII · Lesiones Deportivas · Victor Martínez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9D1D9"/>
                </a:solidFill>
                <a:latin typeface="Segoe UI"/>
              </a:rPr>
              <a:t>Cálculo de riesgo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Segoe UI"/>
              </a:rPr>
              <a:t>Fórmula determinista en src/services/externalService.js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6400800" cy="27432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onsolas"/>
              </a:rPr>
              <a:t>computeRisk(load, alert)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60350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9D1D9"/>
                </a:solidFill>
                <a:latin typeface="Consolas"/>
              </a:rPr>
              <a:t>function computeRisk(load = 50, alert = 'none') {</a:t>
            </a:r>
          </a:p>
          <a:p>
            <a:pPr algn="l"/>
            <a:r>
              <a:rPr sz="1400" b="0">
                <a:solidFill>
                  <a:srgbClr val="C9D1D9"/>
                </a:solidFill>
                <a:latin typeface="Consolas"/>
              </a:rPr>
              <a:t>  let score = load;</a:t>
            </a:r>
          </a:p>
          <a:p>
            <a:pPr algn="l"/>
            <a:r>
              <a:rPr sz="1400" b="0">
                <a:solidFill>
                  <a:srgbClr val="C9D1D9"/>
                </a:solidFill>
                <a:latin typeface="Consolas"/>
              </a:rPr>
              <a:t>  if (['high', 'extreme'].includes(alert)) score += 20;</a:t>
            </a:r>
          </a:p>
          <a:p>
            <a:pPr algn="l"/>
            <a:r>
              <a:rPr sz="1400" b="0">
                <a:solidFill>
                  <a:srgbClr val="C9D1D9"/>
                </a:solidFill>
                <a:latin typeface="Consolas"/>
              </a:rPr>
              <a:t>  if (alert === 'moderate')                score += 10;</a:t>
            </a:r>
          </a:p>
          <a:p>
            <a:pPr algn="l"/>
            <a:r>
              <a:rPr sz="1400" b="0">
                <a:solidFill>
                  <a:srgbClr val="C9D1D9"/>
                </a:solidFill>
                <a:latin typeface="Consolas"/>
              </a:rPr>
              <a:t>  if (score &gt;= 80) return 'high';</a:t>
            </a:r>
          </a:p>
          <a:p>
            <a:pPr algn="l"/>
            <a:r>
              <a:rPr sz="1400" b="0">
                <a:solidFill>
                  <a:srgbClr val="C9D1D9"/>
                </a:solidFill>
                <a:latin typeface="Consolas"/>
              </a:rPr>
              <a:t>  if (score &gt;= 50) return 'medium';</a:t>
            </a:r>
          </a:p>
          <a:p>
            <a:pPr algn="l"/>
            <a:r>
              <a:rPr sz="1400" b="0">
                <a:solidFill>
                  <a:srgbClr val="C9D1D9"/>
                </a:solidFill>
                <a:latin typeface="Consolas"/>
              </a:rPr>
              <a:t>  return 'low';</a:t>
            </a:r>
          </a:p>
          <a:p>
            <a:pPr algn="l"/>
            <a:r>
              <a:rPr sz="1400" b="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17720"/>
            <a:ext cx="6400800" cy="16459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Segoe UI"/>
              </a:rPr>
              <a:t>Ejemplos de salida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74920"/>
            <a:ext cx="5943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load=40, alert=low      → score=40   → low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load=70, alert=moderate → score=80   → high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load=82, alert=high     → score=102  → high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load=55, alert=none     → score=55   → medium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737360"/>
            <a:ext cx="4572000" cy="4480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87451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Segoe UI"/>
              </a:rPr>
              <a:t>Niveles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23774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423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score ≥ 80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30175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D2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063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score ≥ 50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36576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703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score &lt;  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4572000"/>
            <a:ext cx="4114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Diseño: simple, auditable, reversible.</a:t>
            </a:r>
          </a:p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El cliente puede recalcular en local</a:t>
            </a:r>
          </a:p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con la misma fórmula.</a:t>
            </a:r>
          </a:p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/>
            </a:r>
          </a:p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Mejora futura: integrar histórico de</a:t>
            </a:r>
          </a:p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lesiones del atleta como factor.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SWII · Lesiones Deportivas · Victor Martínez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9D1D9"/>
                </a:solidFill>
                <a:latin typeface="Segoe UI"/>
              </a:rPr>
              <a:t>Resiliencia ante caídas externas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Segoe UI"/>
              </a:rPr>
              <a:t>El CRUD nunca se bloquea aunque Open-Meteo o Meteoalarm caigan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Llamada a la API externa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responde correctamente.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/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Snapshot fresco creado en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Mongo. Sesión enriquecida.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09160" y="196596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D2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cached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60604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Timeout o error 5xx en la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API externa.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/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El servicio usa el último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WeatherSnapshot guardado.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73736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95360" y="196596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unavailable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60604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API caída y NO hay snapshot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cacheado.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/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Se crea la sesión sin meteo,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con riskLevel=low por defecto.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11155680" cy="2103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245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onsolas"/>
              </a:rPr>
              <a:t>Fallback en cascada (try → cached → unavailable)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98848"/>
            <a:ext cx="107899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async function fetchWeatherJson(lat, lon, date, country) {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try { /* ... llamada axios ... */ }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catch (error) {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const cached = await latestCached(lat, lon, country);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if (cached) return { status: 'cached', snapshot: cached, alertLevel: cached.alertLevel };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return { status: 'unavailable', snapshot: null, alertLevel: 'none' };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}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SWII · Lesiones Deportivas · Victor Martínez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9D1D9"/>
                </a:solidFill>
                <a:latin typeface="Segoe UI"/>
              </a:rPr>
              <a:t>Negociación de contenido JSON ↔ XML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Segoe UI"/>
              </a:rPr>
              <a:t>Mismo endpoint, distinto formato según Accept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6949440" cy="27432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onsolas"/>
              </a:rPr>
              <a:t>src/app.js · helper respond()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65836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function respond(req, res, root, payload, status = 200) {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const accept = req.headers.accept || '';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const wantsXml = accept.includes('application/xml')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            &amp;&amp; !accept.includes('text/html');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if (wantsXml) {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const xml = asXml(root, JSON.parse(JSON.stringify(payload)));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  return res.status(status).type('application/xml').send(xml);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}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  return res.status(status).json(payload);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737360"/>
            <a:ext cx="4023360" cy="27432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8470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onsolas"/>
              </a:rPr>
              <a:t>curl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121408"/>
            <a:ext cx="3657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# JSON (por defecto)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curl http://localhost:3000/api/v1/athletes/$ID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# XML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curl -H "Accept: application/xml" \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   http://localhost:3000/api/v1/athletes/$ID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# Crear atleta en XML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curl -X POST -H "Content-Type: application/xml" \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-d '&lt;Athlete&gt;&lt;fullName&gt;Laura&lt;/fullName&gt;…&lt;/Athlete&gt;' \</a:t>
            </a:r>
          </a:p>
          <a:p>
            <a:pPr algn="l"/>
            <a:r>
              <a:rPr sz="1100" b="0">
                <a:solidFill>
                  <a:srgbClr val="C9D1D9"/>
                </a:solidFill>
                <a:latin typeface="Consolas"/>
              </a:rPr>
              <a:t>  http://localhost:3000/api/v1/athletes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63440"/>
            <a:ext cx="11155680" cy="1554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Segoe UI"/>
              </a:rPr>
              <a:t>Endpoints que soportan XML (request y/o response)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120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Consolas"/>
              </a:rPr>
              <a:t>POST /athletes      ·  GET /athletes/{id}  ·  POST /injuries  ·  POST /athletes/{id}/injuries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Validados contra documentacion/athlete.xsd y documentacion/injury.xsd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SWII · Lesiones Deportivas · Miguel Barrera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9D1D9"/>
                </a:solidFill>
                <a:latin typeface="Segoe UI"/>
              </a:rPr>
              <a:t>Códigos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Segoe UI"/>
              </a:rPr>
              <a:t>Semántica REST clara para el cliente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532120" cy="960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9659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9D1D9"/>
                </a:solidFill>
                <a:latin typeface="Segoe UI"/>
              </a:rPr>
              <a:t>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33172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Segoe UI"/>
              </a:rPr>
              <a:t>Lectura correcta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532120" cy="960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201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9659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9D1D9"/>
                </a:solidFill>
                <a:latin typeface="Segoe UI"/>
              </a:rPr>
              <a:t>Created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33172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Segoe UI"/>
              </a:rPr>
              <a:t>Recurso creado (POST)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80360"/>
            <a:ext cx="5532120" cy="960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15468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204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01752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9D1D9"/>
                </a:solidFill>
                <a:latin typeface="Segoe UI"/>
              </a:rPr>
              <a:t>No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38328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Segoe UI"/>
              </a:rPr>
              <a:t>DELETE exitoso, sin body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80360"/>
            <a:ext cx="5532120" cy="960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315468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D2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01752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9D1D9"/>
                </a:solidFill>
                <a:latin typeface="Segoe UI"/>
              </a:rPr>
              <a:t>Bad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38328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Segoe UI"/>
              </a:rPr>
              <a:t>ValidationError / CastError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31920"/>
            <a:ext cx="5532120" cy="960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420624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D2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404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06908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9D1D9"/>
                </a:solidFill>
                <a:latin typeface="Segoe UI"/>
              </a:rPr>
              <a:t>Not Found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43484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Segoe UI"/>
              </a:rPr>
              <a:t>Recurso o padre inexistente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931920"/>
            <a:ext cx="5532120" cy="960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420624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D2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415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406908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9D1D9"/>
                </a:solidFill>
                <a:latin typeface="Segoe UI"/>
              </a:rPr>
              <a:t>Unsupported Media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43484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Segoe UI"/>
              </a:rPr>
              <a:t>Content-Type no soportado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983480"/>
            <a:ext cx="5532120" cy="960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525780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500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512064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9D1D9"/>
                </a:solidFill>
                <a:latin typeface="Segoe UI"/>
              </a:rPr>
              <a:t>Internal Error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548640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Segoe UI"/>
              </a:rPr>
              <a:t>Excepción no controlada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983480"/>
            <a:ext cx="5532120" cy="960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0" y="525780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Segoe UI"/>
              </a:rPr>
              <a:t>503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512064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9D1D9"/>
                </a:solidFill>
                <a:latin typeface="Segoe UI"/>
              </a:rPr>
              <a:t>Service Unavailable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548640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Segoe UI"/>
              </a:rPr>
              <a:t>API externa down y sin cache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52160"/>
            <a:ext cx="11155680" cy="5029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92531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  <a:latin typeface="Consolas"/>
              </a:rPr>
              <a:t>Body de error normalizado:  { "code": "BAD_REQUEST", "message": "…" 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SWII · Lesiones Deportivas · Miguel Barrera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9D1D9"/>
                </a:solidFill>
                <a:latin typeface="Segoe UI"/>
              </a:rPr>
              <a:t>Retos y aprendizajes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Segoe UI"/>
              </a:rPr>
              <a:t>Lo que nos enseñó este proyecto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9280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Segoe UI"/>
              </a:rPr>
              <a:t>Negociación JSON↔XML en Express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Una sola función respond() para no duplicar handlers.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XSD para no aceptar XML arbitrario.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9008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Segoe UI"/>
              </a:rPr>
              <a:t>15.420 documentos en una colección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Obligó a paginar y a indexar bien.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Índice compuesto athleteId+sessionDate fue el más rentable.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4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8736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Segoe UI"/>
              </a:rPr>
              <a:t>APIs externas inestables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3484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El feed de Meteoalarm cambia formato sin avisar.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El fallback en cascada (ok→cached→unavailable) nos salvó.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7492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18464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Segoe UI"/>
              </a:rPr>
              <a:t>Diseño REST coherente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5321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Compaginar rutas planas con rutas anidadas sin duplicar lógica</a:t>
            </a:r>
          </a:p>
          <a:p>
            <a:pPr algn="l"/>
            <a:r>
              <a:rPr sz="1200" b="0">
                <a:solidFill>
                  <a:srgbClr val="C9D1D9"/>
                </a:solidFill>
                <a:latin typeface="Segoe UI"/>
              </a:rPr>
              <a:t>→ helpers compartidos buildSessionsFilter / ensureAthleteExists.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SWII · Lesiones Deportivas · Miguel Barrera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C9D1D9"/>
                </a:solidFill>
                <a:latin typeface="Segoe UI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58A6FF"/>
                </a:solidFill>
                <a:latin typeface="Segoe UI"/>
              </a:rPr>
              <a:t>¿Preguntas?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840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B949E"/>
                </a:solidFill>
                <a:latin typeface="Segoe UI"/>
              </a:rPr>
              <a:t>Repositorio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58A6FF"/>
                </a:solidFill>
                <a:latin typeface="Consolas"/>
              </a:rPr>
              <a:t>github.com/Pablodlx/SWII-Lesiones_deportivas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C9D1D9"/>
                </a:solidFill>
                <a:latin typeface="Consolas"/>
              </a:rPr>
              <a:t>Probar local:  npm install  ·  npm run seed  ·  npm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  <a:latin typeface="Segoe UI"/>
              </a:rPr>
              <a:t>Pablo · Enrique · Santiago · Alberto · Victor · Miguel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